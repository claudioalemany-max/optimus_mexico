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Optimus Mexico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PV + BESS revenue optimization for the Mexican electricity market</a:t>
            </a:r>
          </a:p>
          <a:p>
            <a:pPr>
              <a:defRPr sz="1400">
                <a:solidFill>
                  <a:srgbClr val="C9D6E8"/>
                </a:solidFill>
              </a:defRPr>
            </a:pPr>
            <a:r>
              <a:t>System overview &amp; flow  |  June 2026  |  Goldbeck Solar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What is Optimus Mexico?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/>
            </a:pPr>
            <a:r>
              <a:t>Purpose: estimate how much money a solar + battery project would make at any node of the Mexican electricity market — and whether a behind-the-meter battery pays off for an industrial CFE customer.</a:t>
            </a:r>
          </a:p>
          <a:p>
            <a:pPr>
              <a:spcAft>
                <a:spcPts val="600"/>
              </a:spcAft>
              <a:defRPr sz="1700"/>
            </a:pPr>
          </a:p>
          <a:p>
            <a:pPr>
              <a:spcAft>
                <a:spcPts val="600"/>
              </a:spcAft>
              <a:defRPr sz="1700"/>
            </a:pPr>
            <a:r>
              <a:t>Two analysis tracks in one tool:</a:t>
            </a:r>
          </a:p>
          <a:p>
            <a:pPr lvl="1">
              <a:spcAft>
                <a:spcPts val="600"/>
              </a:spcAft>
              <a:defRPr sz="1500">
                <a:solidFill>
                  <a:srgbClr val="666666"/>
                </a:solidFill>
              </a:defRPr>
            </a:pPr>
            <a:r>
              <a:t>Wholesale (MEM): CENACE hourly PML prices + PV profile → optimized BESS dispatch → revenues from energy arbitrage, PPAs and the capacity market.</a:t>
            </a:r>
          </a:p>
          <a:p>
            <a:pPr lvl="1">
              <a:spcAft>
                <a:spcPts val="600"/>
              </a:spcAft>
              <a:defRPr sz="1500">
                <a:solidFill>
                  <a:srgbClr val="666666"/>
                </a:solidFill>
              </a:defRPr>
            </a:pPr>
            <a:r>
              <a:t>Behind-the-Meter (CFE): 15-minute load data → CFE bill reconstruction (GDMTH) → peak-shaving / TOU dispatch → investor decision with GO / REVISE / NO-GO.</a:t>
            </a:r>
          </a:p>
          <a:p>
            <a:pPr>
              <a:spcAft>
                <a:spcPts val="600"/>
              </a:spcAft>
              <a:defRPr sz="1700"/>
            </a:pPr>
          </a:p>
          <a:p>
            <a:pPr>
              <a:spcAft>
                <a:spcPts val="600"/>
              </a:spcAft>
              <a:defRPr sz="1700"/>
            </a:pPr>
            <a:r>
              <a:t>Deliverables: interactive web app, Excel / Word / PDF / PowerPoint reports, investor-grade summaries with CAPEX/OPEX/IRR, full pytest-verified engine (71 tests).</a:t>
            </a:r>
          </a:p>
          <a:p>
            <a:pPr>
              <a:spcAft>
                <a:spcPts val="600"/>
              </a:spcAft>
              <a:defRPr sz="1700"/>
            </a:pPr>
            <a:r>
              <a:t>Built to be integrated into Optimus AI after testing.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System flow — wholesale market track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713232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CENACE node catalog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~3,000 NodosP enriched with zona, tipo, gerencia, estado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40280"/>
            <a:ext cx="5120640" cy="7132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Node Resolver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pick nodes from dropdown or extract from PML reports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5120640" cy="713232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Market &amp; PV data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8,760 h PML + PV profile (upload or MW AC/MWp/yield specs)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77640"/>
            <a:ext cx="5120640" cy="7132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BESS dispatch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price-rank heuristic or daily linear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120640" cy="713232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PPA / Capacity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contract structures + 100 critical hours credit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715000"/>
            <a:ext cx="5120640" cy="7132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Reports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Excel, Word, PDF, PowerPoint + investor report + project IRR</a:t>
            </a:r>
          </a:p>
        </p:txBody>
      </p:sp>
      <p:pic>
        <p:nvPicPr>
          <p:cNvPr id="9" name="Picture 8" descr="shot_02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2276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The app — horizontal navigation, four pages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How it works — purpose, pipeline diagram, data inventory with live found/missing status.</a:t>
            </a:r>
          </a:p>
          <a:p>
            <a:pPr>
              <a:spcAft>
                <a:spcPts val="600"/>
              </a:spcAft>
              <a:defRPr sz="1500"/>
            </a:pPr>
            <a:r>
              <a:t>0. Node Resolver — searchable catalog dropdown with filters.</a:t>
            </a:r>
          </a:p>
          <a:p>
            <a:pPr>
              <a:spcAft>
                <a:spcPts val="600"/>
              </a:spcAft>
              <a:defRPr sz="1500"/>
            </a:pPr>
            <a:r>
              <a:t>1. Front-of-Meter Dispatch + PPA + Capacity — wholesale revenue + CAPEX/OPEX/IRR.</a:t>
            </a:r>
          </a:p>
          <a:p>
            <a:pPr>
              <a:spcAft>
                <a:spcPts val="600"/>
              </a:spcAft>
              <a:defRPr sz="1500"/>
            </a:pPr>
            <a:r>
              <a:t>2. Behind-the-Meter (CFE) — bill savings, readiness gate, savings IRR.</a:t>
            </a:r>
          </a:p>
          <a:p>
            <a:pPr>
              <a:spcAft>
                <a:spcPts val="600"/>
              </a:spcAft>
              <a:defRPr sz="1500"/>
            </a:pPr>
            <a:r>
              <a:t>PV input: upload a profile OR enter MW AC, MWp, yield and degradation.</a:t>
            </a:r>
          </a:p>
          <a:p>
            <a:pPr>
              <a:spcAft>
                <a:spcPts val="600"/>
              </a:spcAft>
              <a:defRPr sz="1500"/>
            </a:pPr>
            <a:r>
              <a:t>Launch: double-click run_app.bat (creates venv and installs dependencies automatically).</a:t>
            </a:r>
          </a:p>
        </p:txBody>
      </p:sp>
      <p:pic>
        <p:nvPicPr>
          <p:cNvPr id="4" name="Picture 3" descr="shot_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126480" cy="36042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Module 0 — Node Resolver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Every project starts at a node: the price point where energy is settled.</a:t>
            </a:r>
          </a:p>
          <a:p>
            <a:pPr>
              <a:spcAft>
                <a:spcPts val="600"/>
              </a:spcAft>
              <a:defRPr sz="1500"/>
            </a:pPr>
            <a:r>
              <a:t>Enriched CENACE catalog: 2,999 nodes with zona de carga, tipo (generación/carga), gerencia regional, estado and municipio.</a:t>
            </a:r>
          </a:p>
          <a:p>
            <a:pPr>
              <a:spcAft>
                <a:spcPts val="600"/>
              </a:spcAft>
              <a:defRPr sz="1500"/>
            </a:pPr>
            <a:r>
              <a:t>Pick nodes from a searchable dropdown (filter by zona, estado, tipo) — or extract node keys from a CENACE PML report (PDF/CSV/XLSX).</a:t>
            </a:r>
          </a:p>
          <a:p>
            <a:pPr>
              <a:spcAft>
                <a:spcPts val="600"/>
              </a:spcAft>
              <a:defRPr sz="1500"/>
            </a:pPr>
            <a:r>
              <a:t>Output: resolution workbook with full node context, ready for the dispatch module or the PML scraper.</a:t>
            </a:r>
          </a:p>
        </p:txBody>
      </p:sp>
      <p:pic>
        <p:nvPicPr>
          <p:cNvPr id="4" name="Picture 3" descr="shot_03_resol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126480" cy="36042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Module 1 — Front-of-Meter Dispatch, PPA &amp;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Merges 8,760 h of nodal PML prices with PV (upload or synthesized from specs).</a:t>
            </a:r>
          </a:p>
          <a:p>
            <a:pPr>
              <a:spcAft>
                <a:spcPts val="600"/>
              </a:spcAft>
              <a:defRPr sz="1400"/>
            </a:pPr>
            <a:r>
              <a:t>Battery dispatch engines:</a:t>
            </a:r>
          </a:p>
          <a:p>
            <a:pPr lvl="1">
              <a:spcAft>
                <a:spcPts val="600"/>
              </a:spcAft>
              <a:defRPr sz="1200">
                <a:solidFill>
                  <a:srgbClr val="666666"/>
                </a:solidFill>
              </a:defRPr>
            </a:pPr>
            <a:r>
              <a:t>price_rank — transparent daily heuristic (charge cheap, discharge expensive)</a:t>
            </a:r>
          </a:p>
          <a:p>
            <a:pPr lvl="1">
              <a:spcAft>
                <a:spcPts val="600"/>
              </a:spcAft>
              <a:defRPr sz="1200">
                <a:solidFill>
                  <a:srgbClr val="666666"/>
                </a:solidFill>
              </a:defRPr>
            </a:pPr>
            <a:r>
              <a:t>lp — daily linear program with SOC carry-over, efficiency and cycle limits</a:t>
            </a:r>
          </a:p>
          <a:p>
            <a:pPr>
              <a:spcAft>
                <a:spcPts val="600"/>
              </a:spcAft>
              <a:defRPr sz="1400"/>
            </a:pPr>
            <a:r>
              <a:t>Duration sweep 2-8 h finds the most profitable battery size.</a:t>
            </a:r>
          </a:p>
          <a:p>
            <a:pPr>
              <a:spcAft>
                <a:spcPts val="600"/>
              </a:spcAft>
              <a:defRPr sz="1400"/>
            </a:pPr>
            <a:r>
              <a:t>PPA structures: pro-rata, baseload block, solar-only — vs merchant.</a:t>
            </a:r>
          </a:p>
          <a:p>
            <a:pPr>
              <a:spcAft>
                <a:spcPts val="600"/>
              </a:spcAft>
              <a:defRPr sz="1400"/>
            </a:pPr>
            <a:r>
              <a:t>Capacity market: 100 critical hours → accredited MW → MXN/year.</a:t>
            </a:r>
          </a:p>
          <a:p>
            <a:pPr>
              <a:spcAft>
                <a:spcPts val="600"/>
              </a:spcAft>
              <a:defRPr sz="1400"/>
            </a:pPr>
            <a:r>
              <a:t>Project economics: PV+BESS CAPEX, OPEX/insurance, financing → unlevered &amp; levered IRR.</a:t>
            </a:r>
          </a:p>
        </p:txBody>
      </p:sp>
      <p:pic>
        <p:nvPicPr>
          <p:cNvPr id="4" name="Picture 3" descr="shot_04_disp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126480" cy="36042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Module 1 — Revenue &amp; project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Interactive charts: average-day dispatch profile, single-day detail (flows + SOC + price), annual revenue by stream, monthly stacked revenue.</a:t>
            </a:r>
          </a:p>
          <a:p>
            <a:pPr>
              <a:spcAft>
                <a:spcPts val="600"/>
              </a:spcAft>
              <a:defRPr sz="1500"/>
            </a:pPr>
            <a:r>
              <a:t>Project economics panel: CAPEX (PV USD/kWp + BESS USD/kWh), OPEX, insurance, financing, project life → NPV, payback, unlevered and levered project IRR.</a:t>
            </a:r>
          </a:p>
          <a:p>
            <a:pPr>
              <a:spcAft>
                <a:spcPts val="600"/>
              </a:spcAft>
              <a:defRPr sz="1500"/>
            </a:pPr>
            <a:r>
              <a:t>Sample-data result: MXN 238M total revenue (PPA + Capacity + Merchant).</a:t>
            </a:r>
          </a:p>
          <a:p>
            <a:pPr>
              <a:spcAft>
                <a:spcPts val="600"/>
              </a:spcAft>
              <a:defRPr sz="1500"/>
            </a:pPr>
            <a:r>
              <a:t>One click exports: Excel workbook, Word, PDF, PowerPoint — plus investor report PDF.</a:t>
            </a:r>
          </a:p>
        </p:txBody>
      </p:sp>
      <p:pic>
        <p:nvPicPr>
          <p:cNvPr id="4" name="Picture 3" descr="shot_05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126480" cy="36042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Module 2 — Behind-the-Meter (CFE) — how it flows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303520" cy="7132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15-minute load + PV data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upload or PV specs (MW AC / MWp / yield)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40280"/>
            <a:ext cx="5303520" cy="713232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CFE tariff calendar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GDMTH base / intermedia / punta, seasons, holidays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5303520" cy="7132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Baseline bill reconstruction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energy by period + capacity &amp; distribution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77640"/>
            <a:ext cx="5303520" cy="713232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Dispatch engine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rule-based screening OR LP bankable (import-cap sweep)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303520" cy="7132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Optimized bill + savings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savings by CFE tariff component; BTM-only revenues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715000"/>
            <a:ext cx="5303520" cy="713232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0000"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Investor layer</a:t>
            </a:r>
          </a:p>
          <a:p>
            <a:pPr>
              <a:defRPr sz="1100">
                <a:solidFill>
                  <a:srgbClr val="DDE6F2"/>
                </a:solidFill>
              </a:defRPr>
            </a:pPr>
            <a:r>
              <a:t>readiness gate DEMO→INVESTMENT READY; IRR on CFE savings</a:t>
            </a:r>
          </a:p>
        </p:txBody>
      </p:sp>
      <p:pic>
        <p:nvPicPr>
          <p:cNvPr id="9" name="Picture 8" descr="shot_06_btm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303520" cy="31200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Module 2 — Daily dispatch &amp; bill savings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The battery keeps grid import under a monthly cap (found by binary search) and shifts punta-period energy to cheap base hours.</a:t>
            </a:r>
          </a:p>
          <a:p>
            <a:pPr>
              <a:spcAft>
                <a:spcPts val="600"/>
              </a:spcAft>
              <a:defRPr sz="1500"/>
            </a:pPr>
            <a:r>
              <a:t>PV serves load first; surplus charges the battery; nothing is exported.</a:t>
            </a:r>
          </a:p>
          <a:p>
            <a:pPr>
              <a:spcAft>
                <a:spcPts val="600"/>
              </a:spcAft>
              <a:defRPr sz="1500"/>
            </a:pPr>
            <a:r>
              <a:t>Sample plant (956 kW peak, 500 kWp PV, 300 kW / 600 kWh BESS):</a:t>
            </a:r>
          </a:p>
          <a:p>
            <a:pPr lvl="1">
              <a:spcAft>
                <a:spcPts val="600"/>
              </a:spcAft>
              <a:defRPr sz="1300">
                <a:solidFill>
                  <a:srgbClr val="666666"/>
                </a:solidFill>
              </a:defRPr>
            </a:pPr>
            <a:r>
              <a:t>CFE bill before: MXN 11.67M/yr → after: MXN 8.68M/yr</a:t>
            </a:r>
          </a:p>
          <a:p>
            <a:pPr lvl="1">
              <a:spcAft>
                <a:spcPts val="600"/>
              </a:spcAft>
              <a:defRPr sz="1300">
                <a:solidFill>
                  <a:srgbClr val="666666"/>
                </a:solidFill>
              </a:defRPr>
            </a:pPr>
            <a:r>
              <a:t>Annual savings: MXN 2.99M | peak shaved 956 → 845 kW | zero export</a:t>
            </a:r>
          </a:p>
        </p:txBody>
      </p:sp>
      <p:pic>
        <p:nvPicPr>
          <p:cNvPr id="4" name="Picture 3" descr="shot_07_btm_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126480" cy="36042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Module 2 — Investor layer &amp; savings IRR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Converts the technical model into an investment answer for an owner-manager.</a:t>
            </a:r>
          </a:p>
          <a:p>
            <a:pPr>
              <a:spcAft>
                <a:spcPts val="600"/>
              </a:spcAft>
              <a:defRPr sz="1400"/>
            </a:pPr>
            <a:r>
              <a:t>Explicit costs: CAPEX (PV USD/kWp + BESS USD/kWh × FX), OPEX %/yr, insurance %/yr, financing (cash / lease / loan) and configurable BESS life (default 20 years).</a:t>
            </a:r>
          </a:p>
          <a:p>
            <a:pPr>
              <a:spcAft>
                <a:spcPts val="600"/>
              </a:spcAft>
              <a:defRPr sz="1400"/>
            </a:pPr>
            <a:r>
              <a:t>IRR on CFE savings — unlevered (bill savings − OPEX vs CAPEX) and levered (bankable savings after financing); NPV and payback over BESS life.</a:t>
            </a:r>
          </a:p>
          <a:p>
            <a:pPr>
              <a:spcAft>
                <a:spcPts val="600"/>
              </a:spcAft>
              <a:defRPr sz="1400"/>
            </a:pPr>
            <a:r>
              <a:t>Investment readiness gate: DEMO | SCREENING | REVISE | INVESTMENT READY — GO/REVISE/NO-GO blocked unless INVESTMENT READY (sample data = DEMO).</a:t>
            </a:r>
          </a:p>
          <a:p>
            <a:pPr>
              <a:spcAft>
                <a:spcPts val="600"/>
              </a:spcAft>
              <a:defRPr sz="1400"/>
            </a:pPr>
            <a:r>
              <a:t>Conservative haircuts on bankable savings; red flags; Excel investor package.</a:t>
            </a:r>
          </a:p>
          <a:p>
            <a:pPr>
              <a:spcAft>
                <a:spcPts val="600"/>
              </a:spcAft>
              <a:defRPr sz="1400"/>
            </a:pPr>
            <a:r>
              <a:t>Sub-workflows: Screening, Bankable Investor, Customer Proposal, Technical Dispatch.</a:t>
            </a:r>
          </a:p>
        </p:txBody>
      </p:sp>
      <p:pic>
        <p:nvPicPr>
          <p:cNvPr id="4" name="Picture 3" descr="shot_08_btm_inves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126480" cy="36042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Technology, quality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Stack: Python, Streamlit, pandas, scipy (HiGHS LP), Altair charts, openpyxl / python-docx / reportlab / python-pptx for reports.</a:t>
            </a:r>
          </a:p>
          <a:p>
            <a:pPr>
              <a:spcAft>
                <a:spcPts val="600"/>
              </a:spcAft>
              <a:defRPr sz="1600"/>
            </a:pPr>
            <a:r>
              <a:t>Agent architecture: each capability is an isolated, testable module — ready to plug into Optimus AI.</a:t>
            </a:r>
          </a:p>
          <a:p>
            <a:pPr>
              <a:spcAft>
                <a:spcPts val="600"/>
              </a:spcAft>
              <a:defRPr sz="1600"/>
            </a:pPr>
            <a:r>
              <a:t>Quality: 71 automated tests (wholesale dispatch, BTM tariff/bill/dispatch, BTM revenue guard, readiness gate, LP optimizer, PV synthesis, FOM economics).</a:t>
            </a:r>
          </a:p>
          <a:p>
            <a:pPr>
              <a:spcAft>
                <a:spcPts val="600"/>
              </a:spcAft>
              <a:defRPr sz="1600"/>
            </a:pPr>
            <a:r>
              <a:t>New agents: pv_synthesis, fom_investor, btm_lp_optimizer, btm_revenue_guard, btm_investment_readiness.</a:t>
            </a:r>
          </a:p>
          <a:p>
            <a:pPr>
              <a:spcAft>
                <a:spcPts val="600"/>
              </a:spcAft>
              <a:defRPr sz="1600"/>
            </a:pPr>
            <a:r>
              <a:t>Data: official CENACE node catalog (auto-download + enrich), CNE 2026 starter tariffs, synthetic sample profiles for instant demos.</a:t>
            </a:r>
          </a:p>
          <a:p>
            <a:pPr>
              <a:spcAft>
                <a:spcPts val="600"/>
              </a:spcAft>
              <a:defRPr sz="1600"/>
            </a:pPr>
            <a:r>
              <a:t>Next: CENACE PML live scraping hardening, CFE/CNE tariff scrapers, PDF bill parser, DIST/DIT tariffs, multi-year PPA cash flows, Optimus AI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