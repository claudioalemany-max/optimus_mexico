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Optimus Mexico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PV + BESS revenue optimization for the Mexican electricity market</a:t>
            </a:r>
          </a:p>
          <a:p>
            <a:pPr>
              <a:defRPr sz="1400">
                <a:solidFill>
                  <a:srgbClr val="C9D6E8"/>
                </a:solidFill>
              </a:defRPr>
            </a:pPr>
            <a:r>
              <a:t>System overview &amp; flow  |  June 2026  |  Goldbeck Solar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What is Optimus Mexico?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Purpose: estimate how much money a solar + battery project would make at any node of the Mexican electricity market — and whether a behind-the-meter battery pays off for an industrial CFE customer.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Two analysis tracks in one tool: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Wholesale (MEM): CENACE hourly PML prices + PV profile → optimized BESS dispatch → revenues from energy arbitrage, PPAs and the capacity market.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Behind-the-Meter (CFE): 15-minute load data → CFE bill reconstruction (GDMTH) → peak-shaving / TOU dispatch → investor decision with GO / REVISE / NO-GO.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Deliverables: interactive web app, Excel / Word / PDF / PowerPoint reports, investor-grade summaries, full pytest-verified calculation engine (42 tests).</a:t>
            </a:r>
          </a:p>
          <a:p>
            <a:pPr>
              <a:spcAft>
                <a:spcPts val="600"/>
              </a:spcAft>
              <a:defRPr sz="1700"/>
            </a:pPr>
            <a:r>
              <a:t>Built to be integrated into Optimus AI after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System flow — wholesale market track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713232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CENACE node catalog</a:t>
            </a:r>
          </a:p>
          <a:p>
            <a:pPr>
              <a:defRPr sz="1100">
                <a:solidFill>
                  <a:srgbClr val="DDE6F2"/>
                </a:solidFill>
              </a:defRPr>
            </a:pPr>
            <a:r>
              <a:t>~3,000 NodosP enriched with zona, tipo, gerencia, estado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40280"/>
            <a:ext cx="5120640" cy="7132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Node Resolver</a:t>
            </a:r>
          </a:p>
          <a:p>
            <a:pPr>
              <a:defRPr sz="1100">
                <a:solidFill>
                  <a:srgbClr val="DDE6F2"/>
                </a:solidFill>
              </a:defRPr>
            </a:pPr>
            <a:r>
              <a:t>pick nodes from dropdown or extract from PML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5120640" cy="713232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Market &amp; PV data</a:t>
            </a:r>
          </a:p>
          <a:p>
            <a:pPr>
              <a:defRPr sz="1100">
                <a:solidFill>
                  <a:srgbClr val="DDE6F2"/>
                </a:solidFill>
              </a:defRPr>
            </a:pPr>
            <a:r>
              <a:t>8,760 h PML prices + PV production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77640"/>
            <a:ext cx="5120640" cy="7132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BESS dispatch</a:t>
            </a:r>
          </a:p>
          <a:p>
            <a:pPr>
              <a:defRPr sz="1100">
                <a:solidFill>
                  <a:srgbClr val="DDE6F2"/>
                </a:solidFill>
              </a:defRPr>
            </a:pPr>
            <a:r>
              <a:t>price-rank heuristic or daily linear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46320"/>
            <a:ext cx="5120640" cy="713232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PPA / Capacity</a:t>
            </a:r>
          </a:p>
          <a:p>
            <a:pPr>
              <a:defRPr sz="1100">
                <a:solidFill>
                  <a:srgbClr val="DDE6F2"/>
                </a:solidFill>
              </a:defRPr>
            </a:pPr>
            <a:r>
              <a:t>contract structures + 100 critical hours credit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15000"/>
            <a:ext cx="5120640" cy="7132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Reports</a:t>
            </a:r>
          </a:p>
          <a:p>
            <a:pPr>
              <a:defRPr sz="1100">
                <a:solidFill>
                  <a:srgbClr val="DDE6F2"/>
                </a:solidFill>
              </a:defRPr>
            </a:pPr>
            <a:r>
              <a:t>Excel, Word, PDF, PowerPoint + investor report</a:t>
            </a:r>
          </a:p>
        </p:txBody>
      </p:sp>
      <p:pic>
        <p:nvPicPr>
          <p:cNvPr id="9" name="Picture 8" descr="shot_02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486400" cy="32276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The app — horizontal navigation, four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How it works — purpose, pipeline diagram, data inventory with live found/missing status.</a:t>
            </a:r>
          </a:p>
          <a:p>
            <a:pPr>
              <a:spcAft>
                <a:spcPts val="600"/>
              </a:spcAft>
              <a:defRPr sz="1500"/>
            </a:pPr>
            <a:r>
              <a:t>0. Node Resolver — searchable catalog dropdown with filters.</a:t>
            </a:r>
          </a:p>
          <a:p>
            <a:pPr>
              <a:spcAft>
                <a:spcPts val="600"/>
              </a:spcAft>
              <a:defRPr sz="1500"/>
            </a:pPr>
            <a:r>
              <a:t>1. Dispatch + PPA + Capacity — wholesale revenue analysis.</a:t>
            </a:r>
          </a:p>
          <a:p>
            <a:pPr>
              <a:spcAft>
                <a:spcPts val="600"/>
              </a:spcAft>
              <a:defRPr sz="1500"/>
            </a:pPr>
            <a:r>
              <a:t>2. Behind-the-Meter (CFE) — industrial bill-savings and investor case.</a:t>
            </a:r>
          </a:p>
          <a:p>
            <a:pPr>
              <a:spcAft>
                <a:spcPts val="600"/>
              </a:spcAft>
              <a:defRPr sz="1500"/>
            </a:pPr>
            <a:r>
              <a:t>Launch: double-click run_app.bat (creates venv and installs dependencies automatically).</a:t>
            </a:r>
          </a:p>
        </p:txBody>
      </p:sp>
      <p:pic>
        <p:nvPicPr>
          <p:cNvPr id="4" name="Picture 3" descr="shot_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88720"/>
            <a:ext cx="6126480" cy="3604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Module 0 — Node Resolver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Every project starts at a node: the price point where energy is settled.</a:t>
            </a:r>
          </a:p>
          <a:p>
            <a:pPr>
              <a:spcAft>
                <a:spcPts val="600"/>
              </a:spcAft>
              <a:defRPr sz="1500"/>
            </a:pPr>
            <a:r>
              <a:t>Enriched CENACE catalog: 2,999 nodes with zona de carga, tipo (generación/carga), gerencia regional, estado and municipio.</a:t>
            </a:r>
          </a:p>
          <a:p>
            <a:pPr>
              <a:spcAft>
                <a:spcPts val="600"/>
              </a:spcAft>
              <a:defRPr sz="1500"/>
            </a:pPr>
            <a:r>
              <a:t>Pick nodes from a searchable dropdown (filter by zona, estado, tipo) — or extract node keys from a CENACE PML report (PDF/CSV/XLSX).</a:t>
            </a:r>
          </a:p>
          <a:p>
            <a:pPr>
              <a:spcAft>
                <a:spcPts val="600"/>
              </a:spcAft>
              <a:defRPr sz="1500"/>
            </a:pPr>
            <a:r>
              <a:t>Output: resolution workbook with full node context, ready for the dispatch module or the PML scraper.</a:t>
            </a:r>
          </a:p>
        </p:txBody>
      </p:sp>
      <p:pic>
        <p:nvPicPr>
          <p:cNvPr id="4" name="Picture 3" descr="shot_03_resol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88720"/>
            <a:ext cx="6126480" cy="3604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Module 1 — Dispatch, PPA &amp; Capacity (wholesale)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Merges 8,760 h of nodal PML prices with the PV production profile.</a:t>
            </a:r>
          </a:p>
          <a:p>
            <a:pPr>
              <a:spcAft>
                <a:spcPts val="600"/>
              </a:spcAft>
              <a:defRPr sz="1400"/>
            </a:pPr>
            <a:r>
              <a:t>Battery dispatch engines:</a:t>
            </a:r>
          </a:p>
          <a:p>
            <a:pPr lvl="1">
              <a:spcAft>
                <a:spcPts val="600"/>
              </a:spcAft>
              <a:defRPr sz="1200">
                <a:solidFill>
                  <a:srgbClr val="666666"/>
                </a:solidFill>
              </a:defRPr>
            </a:pPr>
            <a:r>
              <a:t>price_rank — transparent daily heuristic (charge cheap, discharge expensive)</a:t>
            </a:r>
          </a:p>
          <a:p>
            <a:pPr lvl="1">
              <a:spcAft>
                <a:spcPts val="600"/>
              </a:spcAft>
              <a:defRPr sz="1200">
                <a:solidFill>
                  <a:srgbClr val="666666"/>
                </a:solidFill>
              </a:defRPr>
            </a:pPr>
            <a:r>
              <a:t>lp — daily linear program with SOC carry-over, efficiency and cycle limits</a:t>
            </a:r>
          </a:p>
          <a:p>
            <a:pPr>
              <a:spcAft>
                <a:spcPts val="600"/>
              </a:spcAft>
              <a:defRPr sz="1400"/>
            </a:pPr>
            <a:r>
              <a:t>Duration sweep 2-8 h finds the most profitable battery size.</a:t>
            </a:r>
          </a:p>
          <a:p>
            <a:pPr>
              <a:spcAft>
                <a:spcPts val="600"/>
              </a:spcAft>
              <a:defRPr sz="1400"/>
            </a:pPr>
            <a:r>
              <a:t>PPA structures: pro-rata, baseload block, solar-only — vs merchant.</a:t>
            </a:r>
          </a:p>
          <a:p>
            <a:pPr>
              <a:spcAft>
                <a:spcPts val="600"/>
              </a:spcAft>
              <a:defRPr sz="1400"/>
            </a:pPr>
            <a:r>
              <a:t>Capacity market: 100 critical hours → accredited MW → MXN/year.</a:t>
            </a:r>
          </a:p>
        </p:txBody>
      </p:sp>
      <p:pic>
        <p:nvPicPr>
          <p:cNvPr id="4" name="Picture 3" descr="shot_04_dis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88720"/>
            <a:ext cx="6126480" cy="3604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Module 1 — Revenue results &amp;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Interactive charts: average-day dispatch profile, single-day detail (flows + SOC + price), annual revenue by stream, monthly stacked revenue.</a:t>
            </a:r>
          </a:p>
          <a:p>
            <a:pPr>
              <a:spcAft>
                <a:spcPts val="600"/>
              </a:spcAft>
              <a:defRPr sz="1500"/>
            </a:pPr>
            <a:r>
              <a:t>Sample-data result: MXN 238M total revenue (PPA 104M + Capacity 68M + Merchant 61M).</a:t>
            </a:r>
          </a:p>
          <a:p>
            <a:pPr>
              <a:spcAft>
                <a:spcPts val="600"/>
              </a:spcAft>
              <a:defRPr sz="1500"/>
            </a:pPr>
            <a:r>
              <a:t>One click exports: Excel workbook, Word, PDF, PowerPoint — plus the investor report PDF with executive summary and disclaimer.</a:t>
            </a:r>
          </a:p>
        </p:txBody>
      </p:sp>
      <p:pic>
        <p:nvPicPr>
          <p:cNvPr id="4" name="Picture 3" descr="shot_05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88720"/>
            <a:ext cx="6126480" cy="36042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Module 2 — Behind-the-Meter (CFE) — how it 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303520" cy="7132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15-minute load + PV data</a:t>
            </a:r>
          </a:p>
          <a:p>
            <a:pPr>
              <a:defRPr sz="1100">
                <a:solidFill>
                  <a:srgbClr val="DDE6F2"/>
                </a:solidFill>
              </a:defRPr>
            </a:pPr>
            <a:r>
              <a:t>customer meter data; sample plant included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40280"/>
            <a:ext cx="5303520" cy="713232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CFE tariff calendar</a:t>
            </a:r>
          </a:p>
          <a:p>
            <a:pPr>
              <a:defRPr sz="1100">
                <a:solidFill>
                  <a:srgbClr val="DDE6F2"/>
                </a:solidFill>
              </a:defRPr>
            </a:pPr>
            <a:r>
              <a:t>GDMTH base / intermedia / punta, seasons, holidays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5303520" cy="7132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Baseline bill reconstruction</a:t>
            </a:r>
          </a:p>
          <a:p>
            <a:pPr>
              <a:defRPr sz="1100">
                <a:solidFill>
                  <a:srgbClr val="DDE6F2"/>
                </a:solidFill>
              </a:defRPr>
            </a:pPr>
            <a:r>
              <a:t>energy by period + capacity &amp; distribution demand (CNE 2026 formulas)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77640"/>
            <a:ext cx="5303520" cy="713232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BESS / PV+BESS dispatch</a:t>
            </a:r>
          </a:p>
          <a:p>
            <a:pPr>
              <a:defRPr sz="1100">
                <a:solidFill>
                  <a:srgbClr val="DDE6F2"/>
                </a:solidFill>
              </a:defRPr>
            </a:pPr>
            <a:r>
              <a:t>no-export: peak shaving cap + TOU shifting + PV self-consumption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46320"/>
            <a:ext cx="5303520" cy="7132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Optimized bill + savings</a:t>
            </a:r>
          </a:p>
          <a:p>
            <a:pPr>
              <a:defRPr sz="1100">
                <a:solidFill>
                  <a:srgbClr val="DDE6F2"/>
                </a:solidFill>
              </a:defRPr>
            </a:pPr>
            <a:r>
              <a:t>savings attributed by tariff 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15000"/>
            <a:ext cx="5303520" cy="713232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000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Investor layer</a:t>
            </a:r>
          </a:p>
          <a:p>
            <a:pPr>
              <a:defRPr sz="1100">
                <a:solidFill>
                  <a:srgbClr val="DDE6F2"/>
                </a:solidFill>
              </a:defRPr>
            </a:pPr>
            <a:r>
              <a:t>financing, haircuts, NPV/IRR over BESS life → GO / REVISE / NO-GO</a:t>
            </a:r>
          </a:p>
        </p:txBody>
      </p:sp>
      <p:pic>
        <p:nvPicPr>
          <p:cNvPr id="9" name="Picture 8" descr="shot_06_btm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303520" cy="31200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Module 2 — Daily dispatch &amp; bill savings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The battery keeps grid import under a monthly cap (found by binary search) and shifts punta-period energy to cheap base hours.</a:t>
            </a:r>
          </a:p>
          <a:p>
            <a:pPr>
              <a:spcAft>
                <a:spcPts val="600"/>
              </a:spcAft>
              <a:defRPr sz="1500"/>
            </a:pPr>
            <a:r>
              <a:t>PV serves load first; surplus charges the battery; nothing is exported.</a:t>
            </a:r>
          </a:p>
          <a:p>
            <a:pPr>
              <a:spcAft>
                <a:spcPts val="600"/>
              </a:spcAft>
              <a:defRPr sz="1500"/>
            </a:pPr>
            <a:r>
              <a:t>Sample plant (956 kW peak, 500 kWp PV, 300 kW / 600 kWh BESS):</a:t>
            </a:r>
          </a:p>
          <a:p>
            <a:pPr lvl="1"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CFE bill before: MXN 11.67M/yr → after: MXN 8.68M/yr</a:t>
            </a:r>
          </a:p>
          <a:p>
            <a:pPr lvl="1"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Annual savings: MXN 2.99M | peak shaved 956 → 845 kW | zero export</a:t>
            </a:r>
          </a:p>
        </p:txBody>
      </p:sp>
      <p:pic>
        <p:nvPicPr>
          <p:cNvPr id="4" name="Picture 3" descr="shot_07_btm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88720"/>
            <a:ext cx="6126480" cy="36042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Module 2 — Investor decision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846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Converts the technical model into an investment answer for an owner-manager.</a:t>
            </a:r>
          </a:p>
          <a:p>
            <a:pPr>
              <a:spcAft>
                <a:spcPts val="600"/>
              </a:spcAft>
              <a:defRPr sz="1400"/>
            </a:pPr>
            <a:r>
              <a:t>Explicit costs: CAPEX (USD/kWh × FX), OPEX %/yr, insurance %/yr, financing (cash / lease / loan) and a configurable BESS life (default 20 years).</a:t>
            </a:r>
          </a:p>
          <a:p>
            <a:pPr>
              <a:spcAft>
                <a:spcPts val="600"/>
              </a:spcAft>
              <a:defRPr sz="1400"/>
            </a:pPr>
            <a:r>
              <a:t>Conservative haircuts: savings confidence 90%, availability 95%, collection 95%; downside case stresses tariff spread and load.</a:t>
            </a:r>
          </a:p>
          <a:p>
            <a:pPr>
              <a:spcAft>
                <a:spcPts val="600"/>
              </a:spcAft>
              <a:defRPr sz="1400"/>
            </a:pPr>
            <a:r>
              <a:t>Outputs: net monthly AND annual benefit (base/downside/upside), simple payback, NPV over BESS life, unlevered project IRR, red flags.</a:t>
            </a:r>
          </a:p>
          <a:p>
            <a:pPr>
              <a:spcAft>
                <a:spcPts val="600"/>
              </a:spcAft>
              <a:defRPr sz="1400"/>
            </a:pPr>
            <a:r>
              <a:t>Deterministic gate: GO / REVISE / NO-GO — reproducible from saved metrics.</a:t>
            </a:r>
          </a:p>
          <a:p>
            <a:pPr>
              <a:spcAft>
                <a:spcPts val="600"/>
              </a:spcAft>
              <a:defRPr sz="1400"/>
            </a:pPr>
            <a:r>
              <a:t>Sample result: payback 1.3 y, NPV(20y) MXN 15.6M, IRR 74.6% → GO.</a:t>
            </a:r>
          </a:p>
        </p:txBody>
      </p:sp>
      <p:pic>
        <p:nvPicPr>
          <p:cNvPr id="4" name="Picture 3" descr="shot_08_btm_inve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88720"/>
            <a:ext cx="6126480" cy="36042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Technology, quality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Stack: Python, Streamlit, pandas, scipy (HiGHS LP), Altair charts, openpyxl / python-docx / reportlab / python-pptx for reports.</a:t>
            </a:r>
          </a:p>
          <a:p>
            <a:pPr>
              <a:spcAft>
                <a:spcPts val="600"/>
              </a:spcAft>
              <a:defRPr sz="1600"/>
            </a:pPr>
            <a:r>
              <a:t>Agent architecture: each capability is an isolated, testable module — ready to plug into Optimus AI.</a:t>
            </a:r>
          </a:p>
          <a:p>
            <a:pPr>
              <a:spcAft>
                <a:spcPts val="600"/>
              </a:spcAft>
              <a:defRPr sz="1600"/>
            </a:pPr>
            <a:r>
              <a:t>Quality: 42 automated tests (tariff calendar, bill formulas, dispatch SOC and no-export constraints, financing math, recommendation gates).</a:t>
            </a:r>
          </a:p>
          <a:p>
            <a:pPr>
              <a:spcAft>
                <a:spcPts val="600"/>
              </a:spcAft>
              <a:defRPr sz="1600"/>
            </a:pPr>
            <a:r>
              <a:t>Data: official CENACE node catalog (auto-download + enrich), CNE 2026 starter tariffs, synthetic sample profiles for instant demos.</a:t>
            </a:r>
          </a:p>
          <a:p>
            <a:pPr>
              <a:spcAft>
                <a:spcPts val="600"/>
              </a:spcAft>
              <a:defRPr sz="1600"/>
            </a:pPr>
            <a:r>
              <a:t>Next: CENACE PML live scraping hardening, CFE/CNE tariff scrapers, PDF bill parser, DIST/DIT tariffs, multi-year PPA cash flows, Optimus AI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